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70" r:id="rId3"/>
    <p:sldId id="257" r:id="rId4"/>
    <p:sldId id="258" r:id="rId5"/>
    <p:sldId id="259" r:id="rId6"/>
    <p:sldId id="260" r:id="rId7"/>
    <p:sldId id="263" r:id="rId8"/>
    <p:sldId id="269" r:id="rId9"/>
    <p:sldId id="261" r:id="rId10"/>
    <p:sldId id="264" r:id="rId11"/>
    <p:sldId id="262" r:id="rId12"/>
    <p:sldId id="265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14D34-72B0-47D2-A408-356DF4D1FF95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583749-7246-46DA-B197-77BB7377DB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410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46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5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61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18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21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89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75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294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78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452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23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3F11B55-A456-4239-95F7-BA7D01CD55F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A147D9-46BE-48AE-B3CA-9C3BD487A7F2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073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36D949-E2C0-8067-0D76-126C41B097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ru-RU" dirty="0"/>
              <a:t>Московский Авиационный Институт</a:t>
            </a:r>
          </a:p>
          <a:p>
            <a:pPr algn="ctr"/>
            <a:r>
              <a:rPr lang="ru-RU" dirty="0"/>
              <a:t>Институт № 8 «Компьютерные науки и прикладная математика» Кафедра 806 «Вычислительная математика и программирование»  Группа 108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90699F-2407-A9E5-E395-92E8160B0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8215"/>
            <a:ext cx="12192000" cy="5128582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CE87477-6DAF-F9D1-6E9A-F103ECBF5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/>
          <a:p>
            <a:pPr algn="ctr"/>
            <a:r>
              <a:rPr lang="ru-RU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Доставка лунохода на Луну</a:t>
            </a:r>
          </a:p>
        </p:txBody>
      </p:sp>
    </p:spTree>
    <p:extLst>
      <p:ext uri="{BB962C8B-B14F-4D97-AF65-F5344CB8AC3E}">
        <p14:creationId xmlns:p14="http://schemas.microsoft.com/office/powerpoint/2010/main" val="3975175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691821-8139-8697-37A7-72CB9707CC4A}"/>
              </a:ext>
            </a:extLst>
          </p:cNvPr>
          <p:cNvSpPr/>
          <p:nvPr/>
        </p:nvSpPr>
        <p:spPr>
          <a:xfrm>
            <a:off x="3598457" y="117987"/>
            <a:ext cx="49950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Состав команды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82067EA-878E-1946-CA6F-D6A21AB05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789794"/>
              </p:ext>
            </p:extLst>
          </p:nvPr>
        </p:nvGraphicFramePr>
        <p:xfrm>
          <a:off x="1415845" y="1317524"/>
          <a:ext cx="9055510" cy="42327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27267">
                  <a:extLst>
                    <a:ext uri="{9D8B030D-6E8A-4147-A177-3AD203B41FA5}">
                      <a16:colId xmlns:a16="http://schemas.microsoft.com/office/drawing/2014/main" val="3148462098"/>
                    </a:ext>
                  </a:extLst>
                </a:gridCol>
                <a:gridCol w="4528243">
                  <a:extLst>
                    <a:ext uri="{9D8B030D-6E8A-4147-A177-3AD203B41FA5}">
                      <a16:colId xmlns:a16="http://schemas.microsoft.com/office/drawing/2014/main" val="1290524628"/>
                    </a:ext>
                  </a:extLst>
                </a:gridCol>
              </a:tblGrid>
              <a:tr h="6085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1" kern="100" dirty="0">
                          <a:effectLst/>
                        </a:rPr>
                        <a:t>Участник</a:t>
                      </a:r>
                      <a:endParaRPr lang="ru-RU" sz="28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1" kern="100" dirty="0">
                          <a:effectLst/>
                        </a:rPr>
                        <a:t>Роль</a:t>
                      </a:r>
                      <a:endParaRPr lang="ru-RU" sz="28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842017"/>
                  </a:ext>
                </a:extLst>
              </a:tr>
              <a:tr h="8881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0" kern="100">
                          <a:effectLst/>
                        </a:rPr>
                        <a:t>Апананский Элиас Леонидович</a:t>
                      </a:r>
                      <a:endParaRPr lang="ru-RU" sz="2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b="0" kern="100">
                          <a:effectLst/>
                        </a:rPr>
                        <a:t>KSP</a:t>
                      </a:r>
                      <a:endParaRPr lang="ru-RU" sz="2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9765521"/>
                  </a:ext>
                </a:extLst>
              </a:tr>
              <a:tr h="9215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0" kern="100">
                          <a:effectLst/>
                        </a:rPr>
                        <a:t>Никонова Амелия Эдуардовна</a:t>
                      </a:r>
                      <a:endParaRPr lang="ru-RU" sz="2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0" kern="100" dirty="0">
                          <a:effectLst/>
                        </a:rPr>
                        <a:t>Программист, математик</a:t>
                      </a:r>
                      <a:endParaRPr lang="ru-RU" sz="2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3406003"/>
                  </a:ext>
                </a:extLst>
              </a:tr>
              <a:tr h="9215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0" kern="100">
                          <a:effectLst/>
                        </a:rPr>
                        <a:t>Герман Мария Георгиевна</a:t>
                      </a:r>
                      <a:endParaRPr lang="ru-RU" sz="2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0" kern="100" dirty="0">
                          <a:effectLst/>
                        </a:rPr>
                        <a:t>Физик, математик</a:t>
                      </a:r>
                      <a:endParaRPr lang="ru-RU" sz="2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1569101"/>
                  </a:ext>
                </a:extLst>
              </a:tr>
              <a:tr h="8881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0" kern="100">
                          <a:effectLst/>
                        </a:rPr>
                        <a:t>Шумихина Мария Анатольевна</a:t>
                      </a:r>
                      <a:endParaRPr lang="ru-RU" sz="2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0" kern="100" dirty="0">
                          <a:effectLst/>
                        </a:rPr>
                        <a:t>Оформление проекта, презентация</a:t>
                      </a:r>
                      <a:endParaRPr lang="ru-RU" sz="2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80274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A3CE60-3F03-FB94-DC0E-D7113A5A0B61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051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AB83AE3-FDE0-6196-F21B-2023C702E0AE}"/>
              </a:ext>
            </a:extLst>
          </p:cNvPr>
          <p:cNvSpPr/>
          <p:nvPr/>
        </p:nvSpPr>
        <p:spPr>
          <a:xfrm>
            <a:off x="2803808" y="0"/>
            <a:ext cx="7095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Цели и задачи проекта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11D85-C0F1-D789-5493-B41D8F37A061}"/>
              </a:ext>
            </a:extLst>
          </p:cNvPr>
          <p:cNvSpPr txBox="1"/>
          <p:nvPr/>
        </p:nvSpPr>
        <p:spPr>
          <a:xfrm>
            <a:off x="422787" y="1023448"/>
            <a:ext cx="113464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    Наш проект посвящен разработке решения для вывода лунохода на орбиту Луну с целью сбора атмосферных данных. Это исследование, сочетающее теоретическую физику, математическое  моделирование, программирование и практическую симуляцию.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5E2F5A-9E2A-CF6C-381F-2EFC15973C88}"/>
              </a:ext>
            </a:extLst>
          </p:cNvPr>
          <p:cNvSpPr txBox="1"/>
          <p:nvPr/>
        </p:nvSpPr>
        <p:spPr>
          <a:xfrm>
            <a:off x="422787" y="1919207"/>
            <a:ext cx="8003458" cy="429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i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Задачи:</a:t>
            </a:r>
            <a:endParaRPr lang="ru-RU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физико-математическую модель полета.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Сконструировать модель ракеты для вывода лунохода на Луну.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Сконструировать спутник, способный продолжительное время автономно собирать и отправлять данные вблизи Муны.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Реализовать на языке Python алгоритм автопилота для управления ракетой в KSP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Провести симуляцию полета в KSP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Собрать информацию и создать отчёт с презентацией.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0531DD-2376-BC94-2CB1-9C9139E3CF87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6949381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807FC-017F-3935-E783-EA1E7B814275}"/>
              </a:ext>
            </a:extLst>
          </p:cNvPr>
          <p:cNvSpPr/>
          <p:nvPr/>
        </p:nvSpPr>
        <p:spPr>
          <a:xfrm>
            <a:off x="3637853" y="0"/>
            <a:ext cx="54275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Описание миссии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E7DAF-4BB8-8F77-2906-0750A3B733CE}"/>
              </a:ext>
            </a:extLst>
          </p:cNvPr>
          <p:cNvSpPr txBox="1"/>
          <p:nvPr/>
        </p:nvSpPr>
        <p:spPr>
          <a:xfrm>
            <a:off x="383458" y="849417"/>
            <a:ext cx="111301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Доставка лунохода на Луну — это миссия, требующая точности и устойчивости всех систем. Целью является доставка автоматического космического аппарата на планету и его мягкую посадку для сбора данных.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8A157-3C55-5758-B9C2-8EAF05624978}"/>
              </a:ext>
            </a:extLst>
          </p:cNvPr>
          <p:cNvSpPr txBox="1"/>
          <p:nvPr/>
        </p:nvSpPr>
        <p:spPr>
          <a:xfrm>
            <a:off x="383458" y="1694089"/>
            <a:ext cx="6096001" cy="4553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sz="2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Этапы: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Запуск с Земли с помощью ракеты-носителя.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Вывод на околоземную орбиту.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Разгон к Луне по трансляционной траектории.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Коррекция курса в ходе перелёта.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Выход на окололунную орбиту.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Отделение посадочной платформы с луноходом.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Мягкая посадка на поверхность Луны с использованием двигательной установки.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74A1F6-6CFD-3D6F-8D5C-356A7289C05B}"/>
              </a:ext>
            </a:extLst>
          </p:cNvPr>
          <p:cNvSpPr txBox="1"/>
          <p:nvPr/>
        </p:nvSpPr>
        <p:spPr>
          <a:xfrm>
            <a:off x="6803923" y="1772747"/>
            <a:ext cx="6096000" cy="310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2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Основные сложности миссии: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Точность посадки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Мягкая посадка</a:t>
            </a:r>
            <a:endParaRPr lang="ru-RU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Лунные условия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Связь и управление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Траверс по сложной местности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C577B-23A9-F2D9-F4A1-3E35D3BD2CBA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6313671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E6B3067-2678-217D-C9C9-A16C84B8606A}"/>
              </a:ext>
            </a:extLst>
          </p:cNvPr>
          <p:cNvSpPr/>
          <p:nvPr/>
        </p:nvSpPr>
        <p:spPr>
          <a:xfrm>
            <a:off x="3157305" y="0"/>
            <a:ext cx="63886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Внешний вид ракеты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88AAA-C3B2-3B8E-943E-35BA341299F8}"/>
              </a:ext>
            </a:extLst>
          </p:cNvPr>
          <p:cNvSpPr txBox="1"/>
          <p:nvPr/>
        </p:nvSpPr>
        <p:spPr>
          <a:xfrm>
            <a:off x="1278193" y="854504"/>
            <a:ext cx="94979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effectLst/>
                <a:ea typeface="Calibri" panose="020F0502020204030204" pitchFamily="34" charset="0"/>
              </a:rPr>
              <a:t>Идея внешнего вида ракеты для доставки лунохода была разработана, опираясь на модель ракеты Протон К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5D4CDB-C116-4C5E-23A9-27A3EF8A7E17}"/>
              </a:ext>
            </a:extLst>
          </p:cNvPr>
          <p:cNvSpPr txBox="1"/>
          <p:nvPr/>
        </p:nvSpPr>
        <p:spPr>
          <a:xfrm>
            <a:off x="423772" y="1931289"/>
            <a:ext cx="4208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F1115"/>
                </a:solidFill>
                <a:effectLst/>
              </a:rPr>
              <a:t>1. Необходимость размещения габаритного посадочного модуля</a:t>
            </a:r>
            <a:endParaRPr lang="ru-R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805777-B18B-C17B-66F1-C2F367DCB218}"/>
              </a:ext>
            </a:extLst>
          </p:cNvPr>
          <p:cNvSpPr txBox="1"/>
          <p:nvPr/>
        </p:nvSpPr>
        <p:spPr>
          <a:xfrm>
            <a:off x="423772" y="310084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F1115"/>
                </a:solidFill>
                <a:effectLst/>
              </a:rPr>
              <a:t>2. Сочетание требований к скорости и массе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C2871-C731-EC5E-F5DE-CB6AFAC23323}"/>
              </a:ext>
            </a:extLst>
          </p:cNvPr>
          <p:cNvSpPr txBox="1"/>
          <p:nvPr/>
        </p:nvSpPr>
        <p:spPr>
          <a:xfrm>
            <a:off x="423772" y="40703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F1115"/>
                </a:solidFill>
                <a:effectLst/>
              </a:rPr>
              <a:t>4. Устойчивость при посадке</a:t>
            </a:r>
            <a:endParaRPr lang="ru-R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0CB945-EC85-9F8A-9D25-7ADA4813FA6E}"/>
              </a:ext>
            </a:extLst>
          </p:cNvPr>
          <p:cNvSpPr txBox="1"/>
          <p:nvPr/>
        </p:nvSpPr>
        <p:spPr>
          <a:xfrm>
            <a:off x="423772" y="358558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solidFill>
                  <a:srgbClr val="0F1115"/>
                </a:solidFill>
                <a:effectLst/>
              </a:rPr>
              <a:t>3. Эффективная компоновка ступеней</a:t>
            </a:r>
            <a:endParaRPr lang="ru-RU" sz="24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7038F24-425E-EB7F-333B-F0A5BC6B2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772" y="1770563"/>
            <a:ext cx="4979148" cy="44240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57DB9F-B95F-F344-D8D1-AFC0B247A7C6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8671328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61DDDEF-9D22-8EDE-0063-4F815F4B8489}"/>
              </a:ext>
            </a:extLst>
          </p:cNvPr>
          <p:cNvSpPr/>
          <p:nvPr/>
        </p:nvSpPr>
        <p:spPr>
          <a:xfrm>
            <a:off x="3347873" y="0"/>
            <a:ext cx="60075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Физическая модель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F148EC-3564-1E81-F998-DF6AA0A58ECB}"/>
              </a:ext>
            </a:extLst>
          </p:cNvPr>
          <p:cNvSpPr/>
          <p:nvPr/>
        </p:nvSpPr>
        <p:spPr>
          <a:xfrm>
            <a:off x="150908" y="923330"/>
            <a:ext cx="639393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sz="3200" b="1" dirty="0">
                <a:ln/>
                <a:solidFill>
                  <a:schemeClr val="accent3"/>
                </a:solidFill>
              </a:rPr>
              <a:t>1 этап - предстартовая подготовка: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A04E165-DE64-0BC9-048F-7AED493B450F}"/>
              </a:ext>
            </a:extLst>
          </p:cNvPr>
          <p:cNvSpPr/>
          <p:nvPr/>
        </p:nvSpPr>
        <p:spPr>
          <a:xfrm>
            <a:off x="1612490" y="2064773"/>
            <a:ext cx="4483509" cy="109138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FCFCB4-CBCD-4D0E-87C4-39C940C7CDBA}"/>
                  </a:ext>
                </a:extLst>
              </p:cNvPr>
              <p:cNvSpPr txBox="1"/>
              <p:nvPr/>
            </p:nvSpPr>
            <p:spPr>
              <a:xfrm>
                <a:off x="1283108" y="2266423"/>
                <a:ext cx="5142271" cy="889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2⋅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2⋅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⋅600 000</m:t>
                          </m:r>
                        </m:num>
                        <m:den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21 600</m:t>
                          </m:r>
                        </m:den>
                      </m:f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≈174,5 м/с</m:t>
                      </m:r>
                    </m:oMath>
                  </m:oMathPara>
                </a14:m>
                <a:endParaRPr lang="ru-RU" sz="18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FCFCB4-CBCD-4D0E-87C4-39C940C7C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108" y="2266423"/>
                <a:ext cx="5142271" cy="8897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6A2DFFF-5AEF-1E0C-9CC5-886C1FF3ED3C}"/>
              </a:ext>
            </a:extLst>
          </p:cNvPr>
          <p:cNvSpPr txBox="1"/>
          <p:nvPr/>
        </p:nvSpPr>
        <p:spPr>
          <a:xfrm>
            <a:off x="383457" y="1594616"/>
            <a:ext cx="1052543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300" dirty="0">
                <a:ea typeface="Calibri" panose="020F0502020204030204" pitchFamily="34" charset="0"/>
              </a:rPr>
              <a:t>Н</a:t>
            </a:r>
            <a:r>
              <a:rPr lang="ru-RU" sz="2300" dirty="0">
                <a:effectLst/>
                <a:ea typeface="Calibri" panose="020F0502020204030204" pitchFamily="34" charset="0"/>
              </a:rPr>
              <a:t>ачальная линейная скорость ракеты относительно инерциального пространства:</a:t>
            </a:r>
            <a:endParaRPr lang="ru-RU" sz="2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AF3A6-6407-1C79-DDB3-B2B1E11C7881}"/>
              </a:ext>
            </a:extLst>
          </p:cNvPr>
          <p:cNvSpPr txBox="1"/>
          <p:nvPr/>
        </p:nvSpPr>
        <p:spPr>
          <a:xfrm>
            <a:off x="526025" y="3357804"/>
            <a:ext cx="1052543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300" dirty="0">
                <a:ea typeface="Calibri" panose="020F0502020204030204" pitchFamily="34" charset="0"/>
              </a:rPr>
              <a:t>Формула для азимута:</a:t>
            </a:r>
            <a:endParaRPr lang="ru-RU" sz="23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4EFF610-3BA7-1913-8605-7B168F9108AD}"/>
              </a:ext>
            </a:extLst>
          </p:cNvPr>
          <p:cNvSpPr/>
          <p:nvPr/>
        </p:nvSpPr>
        <p:spPr>
          <a:xfrm>
            <a:off x="3608437" y="3402742"/>
            <a:ext cx="4483509" cy="109138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E5640A-5C82-F230-FDA1-B2CE462A5F97}"/>
                  </a:ext>
                </a:extLst>
              </p:cNvPr>
              <p:cNvSpPr txBox="1"/>
              <p:nvPr/>
            </p:nvSpPr>
            <p:spPr>
              <a:xfrm>
                <a:off x="4594123" y="3608018"/>
                <a:ext cx="6096000" cy="680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𝑎𝑟𝑐𝑠𝑖𝑛</m:t>
                        </m:r>
                      </m:fName>
                      <m:e>
                        <m:d>
                          <m:d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𝑐𝑜𝑠</m:t>
                                    </m:r>
                                  </m:fName>
                                  <m:e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ⅈ</m:t>
                                    </m:r>
                                  </m:e>
                                </m:func>
                              </m:num>
                              <m:den>
                                <m:func>
                                  <m:funcPr>
                                    <m:ctrlP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𝑐𝑜𝑠</m:t>
                                    </m:r>
                                  </m:fName>
                                  <m:e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E5640A-5C82-F230-FDA1-B2CE462A5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123" y="3608018"/>
                <a:ext cx="6096000" cy="6808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1BEABE9-C720-A999-0775-16667E34B65B}"/>
              </a:ext>
            </a:extLst>
          </p:cNvPr>
          <p:cNvSpPr txBox="1"/>
          <p:nvPr/>
        </p:nvSpPr>
        <p:spPr>
          <a:xfrm>
            <a:off x="383458" y="4697785"/>
            <a:ext cx="474898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300" dirty="0">
                <a:effectLst/>
                <a:ea typeface="Calibri" panose="020F0502020204030204" pitchFamily="34" charset="0"/>
              </a:rPr>
              <a:t>У нас хватит топлива и скорости, чтобы долететь до Луны:</a:t>
            </a:r>
            <a:endParaRPr lang="ru-RU" sz="2300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8CDA796C-F6C1-BDA0-F95A-2701C93DF6D1}"/>
              </a:ext>
            </a:extLst>
          </p:cNvPr>
          <p:cNvSpPr/>
          <p:nvPr/>
        </p:nvSpPr>
        <p:spPr>
          <a:xfrm>
            <a:off x="5096794" y="5008395"/>
            <a:ext cx="4748982" cy="109138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72066-1B6E-D37A-8058-E951210778EB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40F306-A267-22D8-886A-AB0B1ACB8A38}"/>
                  </a:ext>
                </a:extLst>
              </p:cNvPr>
              <p:cNvSpPr txBox="1"/>
              <p:nvPr/>
            </p:nvSpPr>
            <p:spPr>
              <a:xfrm>
                <a:off x="5368413" y="5008395"/>
                <a:ext cx="4205744" cy="1337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𝛥</m:t>
                      </m:r>
                      <m:r>
                        <a:rPr lang="ru-RU" sz="2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2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sub>
                          </m:sSub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sz="28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40F306-A267-22D8-886A-AB0B1ACB8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413" y="5008395"/>
                <a:ext cx="4205744" cy="13374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535776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ED20F1-1E14-51D1-3CBB-AFC77F17C63A}"/>
              </a:ext>
            </a:extLst>
          </p:cNvPr>
          <p:cNvSpPr/>
          <p:nvPr/>
        </p:nvSpPr>
        <p:spPr>
          <a:xfrm>
            <a:off x="444812" y="274401"/>
            <a:ext cx="399699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sz="3200" b="1" dirty="0">
                <a:ln/>
                <a:solidFill>
                  <a:schemeClr val="accent3"/>
                </a:solidFill>
              </a:rPr>
              <a:t>2 этап - взлет ракеты: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9B93A-E2E8-F6A9-B71C-801FF946A45A}"/>
              </a:ext>
            </a:extLst>
          </p:cNvPr>
          <p:cNvSpPr txBox="1"/>
          <p:nvPr/>
        </p:nvSpPr>
        <p:spPr>
          <a:xfrm>
            <a:off x="250714" y="935900"/>
            <a:ext cx="82148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На ракету действуют: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/>
              <a:t>Сила тяги</a:t>
            </a:r>
          </a:p>
          <a:p>
            <a:endParaRPr lang="ru-RU" sz="3200" dirty="0"/>
          </a:p>
          <a:p>
            <a:r>
              <a:rPr lang="ru-RU" sz="3200" dirty="0"/>
              <a:t>2. Сила тяжести</a:t>
            </a:r>
          </a:p>
          <a:p>
            <a:endParaRPr lang="ru-RU" sz="3200" dirty="0"/>
          </a:p>
          <a:p>
            <a:r>
              <a:rPr lang="ru-RU" sz="3200" dirty="0"/>
              <a:t>3. Сила сопротивления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Также формула динамического давления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869B306-A1A7-19C3-D8D6-24C21CB07E54}"/>
              </a:ext>
            </a:extLst>
          </p:cNvPr>
          <p:cNvSpPr/>
          <p:nvPr/>
        </p:nvSpPr>
        <p:spPr>
          <a:xfrm>
            <a:off x="2496117" y="1540156"/>
            <a:ext cx="2915265" cy="77675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87E1EF-3A7D-E866-65FF-F612CE9219D6}"/>
                  </a:ext>
                </a:extLst>
              </p:cNvPr>
              <p:cNvSpPr txBox="1"/>
              <p:nvPr/>
            </p:nvSpPr>
            <p:spPr>
              <a:xfrm>
                <a:off x="2394148" y="1650314"/>
                <a:ext cx="3119202" cy="5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тяги</m:t>
                          </m:r>
                        </m:sub>
                      </m:sSub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𝑠𝑝</m:t>
                          </m:r>
                        </m:sub>
                      </m:sSub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acc>
                        <m:accPr>
                          <m:chr m:val="̇"/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87E1EF-3A7D-E866-65FF-F612CE92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148" y="1650314"/>
                <a:ext cx="3119202" cy="5564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969329C-887E-8D79-4A04-08897C47A250}"/>
              </a:ext>
            </a:extLst>
          </p:cNvPr>
          <p:cNvSpPr/>
          <p:nvPr/>
        </p:nvSpPr>
        <p:spPr>
          <a:xfrm>
            <a:off x="2013150" y="3893576"/>
            <a:ext cx="4345776" cy="99867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C7DFCF8-F127-A4EB-5DE5-7A2CA456B40F}"/>
              </a:ext>
            </a:extLst>
          </p:cNvPr>
          <p:cNvSpPr/>
          <p:nvPr/>
        </p:nvSpPr>
        <p:spPr>
          <a:xfrm>
            <a:off x="3146325" y="2400896"/>
            <a:ext cx="3119202" cy="95318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FB8930-3EF8-5632-973A-114670E00EF1}"/>
                  </a:ext>
                </a:extLst>
              </p:cNvPr>
              <p:cNvSpPr txBox="1"/>
              <p:nvPr/>
            </p:nvSpPr>
            <p:spPr>
              <a:xfrm>
                <a:off x="2792362" y="2568404"/>
                <a:ext cx="383458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32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тяж</m:t>
                          </m:r>
                        </m:sub>
                      </m:sSub>
                      <m:r>
                        <a:rPr lang="ru-RU" sz="32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32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ru-RU" sz="32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sz="32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32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FB8930-3EF8-5632-973A-114670E00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362" y="2568404"/>
                <a:ext cx="383458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632DC4-BABF-63A0-FD4C-98DB5C80F0CB}"/>
                  </a:ext>
                </a:extLst>
              </p:cNvPr>
              <p:cNvSpPr txBox="1"/>
              <p:nvPr/>
            </p:nvSpPr>
            <p:spPr>
              <a:xfrm>
                <a:off x="2084481" y="3868559"/>
                <a:ext cx="4345776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сопр</m:t>
                          </m:r>
                        </m:sub>
                      </m:sSub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𝜌</m:t>
                      </m:r>
                      <m:d>
                        <m:d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</m:d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632DC4-BABF-63A0-FD4C-98DB5C80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481" y="3868559"/>
                <a:ext cx="4345776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6FBAE52-274D-CCFC-1C54-EDDEEA4BDA41}"/>
              </a:ext>
            </a:extLst>
          </p:cNvPr>
          <p:cNvSpPr/>
          <p:nvPr/>
        </p:nvSpPr>
        <p:spPr>
          <a:xfrm>
            <a:off x="751830" y="5376146"/>
            <a:ext cx="4250122" cy="91059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6839F4-98E8-7D6F-86C1-1D91AA8C90C9}"/>
                  </a:ext>
                </a:extLst>
              </p:cNvPr>
              <p:cNvSpPr txBox="1"/>
              <p:nvPr/>
            </p:nvSpPr>
            <p:spPr>
              <a:xfrm>
                <a:off x="-144856" y="5410116"/>
                <a:ext cx="6096000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ru-R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4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ru-RU" sz="24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𝑣</m:t>
                      </m:r>
                      <m:sSup>
                        <m:sSupPr>
                          <m:ctrlPr>
                            <a:rPr lang="ru-R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  <m:sup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6839F4-98E8-7D6F-86C1-1D91AA8C9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4856" y="5410116"/>
                <a:ext cx="6096000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CA1E856-8D57-8C7F-5FA6-F3DC3C484422}"/>
              </a:ext>
            </a:extLst>
          </p:cNvPr>
          <p:cNvSpPr txBox="1"/>
          <p:nvPr/>
        </p:nvSpPr>
        <p:spPr>
          <a:xfrm>
            <a:off x="8544232" y="308313"/>
            <a:ext cx="4454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6">
                    <a:lumMod val="75000"/>
                  </a:schemeClr>
                </a:solidFill>
              </a:rPr>
              <a:t>Законы: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B1BB9F-C164-BB59-567E-9A04528477DF}"/>
                  </a:ext>
                </a:extLst>
              </p:cNvPr>
              <p:cNvSpPr txBox="1"/>
              <p:nvPr/>
            </p:nvSpPr>
            <p:spPr>
              <a:xfrm>
                <a:off x="7066931" y="942224"/>
                <a:ext cx="4852212" cy="1485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/>
                  <a:t>2-ой закон Ньютона: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ru-RU" sz="28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ru-RU" sz="28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тяги</m:t>
                              </m:r>
                            </m:sub>
                          </m:sSub>
                        </m:e>
                      </m:acc>
                      <m:r>
                        <a:rPr lang="ru-RU" sz="28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тяж</m:t>
                              </m:r>
                            </m:sub>
                          </m:sSub>
                        </m:e>
                      </m:acc>
                      <m:r>
                        <a:rPr lang="ru-RU" sz="28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сопр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400" dirty="0"/>
              </a:p>
              <a:p>
                <a:endParaRPr lang="ru-RU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B1BB9F-C164-BB59-567E-9A0452847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931" y="942224"/>
                <a:ext cx="4852212" cy="1485856"/>
              </a:xfrm>
              <a:prstGeom prst="rect">
                <a:avLst/>
              </a:prstGeom>
              <a:blipFill>
                <a:blip r:embed="rId6"/>
                <a:stretch>
                  <a:fillRect l="-2513" t="-4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F9E6446-DCFA-5312-380F-8C9DB17A7AB5}"/>
                  </a:ext>
                </a:extLst>
              </p:cNvPr>
              <p:cNvSpPr txBox="1"/>
              <p:nvPr/>
            </p:nvSpPr>
            <p:spPr>
              <a:xfrm>
                <a:off x="7066931" y="2400896"/>
                <a:ext cx="4119716" cy="1768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/>
                  <a:t>Формула Циолковского: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𝛥</m:t>
                      </m:r>
                      <m:r>
                        <a:rPr lang="ru-RU" sz="2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28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sub>
                          </m:sSub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sz="28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F9E6446-DCFA-5312-380F-8C9DB17A7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931" y="2400896"/>
                <a:ext cx="4119716" cy="1768369"/>
              </a:xfrm>
              <a:prstGeom prst="rect">
                <a:avLst/>
              </a:prstGeom>
              <a:blipFill>
                <a:blip r:embed="rId7"/>
                <a:stretch>
                  <a:fillRect l="-2959" t="-34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409867D-85F4-D9EC-00F4-8DA7FC62CA73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0050152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AF0A273-EF05-E2EF-51E6-FEC64AA80136}"/>
              </a:ext>
            </a:extLst>
          </p:cNvPr>
          <p:cNvSpPr/>
          <p:nvPr/>
        </p:nvSpPr>
        <p:spPr>
          <a:xfrm>
            <a:off x="3692670" y="294065"/>
            <a:ext cx="49541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sz="4400" b="1" dirty="0">
                <a:ln/>
                <a:solidFill>
                  <a:schemeClr val="accent3"/>
                </a:solidFill>
              </a:rPr>
              <a:t>Система координат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9F8FB-83EF-A350-8370-6472C6504742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66B52D-3735-F1A4-B86B-DF596A0E7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139" y="1376515"/>
            <a:ext cx="7400517" cy="42475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C9EB66-21F2-5CF8-A768-B699E453A02E}"/>
                  </a:ext>
                </a:extLst>
              </p:cNvPr>
              <p:cNvSpPr txBox="1"/>
              <p:nvPr/>
            </p:nvSpPr>
            <p:spPr>
              <a:xfrm>
                <a:off x="119103" y="1863473"/>
                <a:ext cx="4852212" cy="1916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/>
                  <a:t> 2-ой закон Ньютона:</a:t>
                </a:r>
              </a:p>
              <a:p>
                <a:endParaRPr lang="ru-RU" sz="2800" i="1" dirty="0">
                  <a:latin typeface="Cambria Math" panose="02040503050406030204" pitchFamily="18" charset="0"/>
                </a:endParaRPr>
              </a:p>
              <a:p>
                <a:r>
                  <a:rPr lang="ru-RU" sz="28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28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ru-RU" sz="28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тяги</m:t>
                            </m:r>
                          </m:sub>
                        </m:sSub>
                      </m:e>
                    </m:acc>
                    <m:r>
                      <a:rPr lang="ru-RU" sz="28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тяж</m:t>
                            </m:r>
                          </m:sub>
                        </m:sSub>
                      </m:e>
                    </m:acc>
                    <m:r>
                      <a:rPr lang="ru-RU" sz="28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сопр</m:t>
                            </m:r>
                          </m:sub>
                        </m:sSub>
                      </m:e>
                    </m:acc>
                  </m:oMath>
                </a14:m>
                <a:endParaRPr lang="ru-RU" sz="2400" dirty="0"/>
              </a:p>
              <a:p>
                <a:endParaRPr lang="ru-RU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C9EB66-21F2-5CF8-A768-B699E453A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03" y="1863473"/>
                <a:ext cx="4852212" cy="1916743"/>
              </a:xfrm>
              <a:prstGeom prst="rect">
                <a:avLst/>
              </a:prstGeom>
              <a:blipFill>
                <a:blip r:embed="rId3"/>
                <a:stretch>
                  <a:fillRect l="-1005" t="-31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11524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6B629FE-3EED-19E4-A658-F58851134D81}"/>
              </a:ext>
            </a:extLst>
          </p:cNvPr>
          <p:cNvSpPr/>
          <p:nvPr/>
        </p:nvSpPr>
        <p:spPr>
          <a:xfrm>
            <a:off x="4950542" y="814815"/>
            <a:ext cx="2649794" cy="94080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0D7EAD-B739-8F8E-9A90-D5015869739E}"/>
              </a:ext>
            </a:extLst>
          </p:cNvPr>
          <p:cNvSpPr/>
          <p:nvPr/>
        </p:nvSpPr>
        <p:spPr>
          <a:xfrm>
            <a:off x="273588" y="263136"/>
            <a:ext cx="560781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sz="3200" b="1" dirty="0">
                <a:ln/>
                <a:solidFill>
                  <a:schemeClr val="accent3"/>
                </a:solidFill>
              </a:rPr>
              <a:t>3 этап – выведение на орбиту: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A875C-EAD9-5A81-0360-EF5FFFD0208C}"/>
              </a:ext>
            </a:extLst>
          </p:cNvPr>
          <p:cNvSpPr txBox="1"/>
          <p:nvPr/>
        </p:nvSpPr>
        <p:spPr>
          <a:xfrm>
            <a:off x="1052050" y="100844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ea typeface="Calibri" panose="020F0502020204030204" pitchFamily="34" charset="0"/>
              </a:rPr>
              <a:t>Скорость в любой точке орбиты </a:t>
            </a:r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618DE3-BFAF-BCE0-4AF8-2C1786A2B391}"/>
                  </a:ext>
                </a:extLst>
              </p:cNvPr>
              <p:cNvSpPr txBox="1"/>
              <p:nvPr/>
            </p:nvSpPr>
            <p:spPr>
              <a:xfrm>
                <a:off x="3048000" y="732254"/>
                <a:ext cx="6096000" cy="1001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ru-RU" sz="20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ru-R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</m:ra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618DE3-BFAF-BCE0-4AF8-2C1786A2B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732254"/>
                <a:ext cx="6096000" cy="10016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19F477-6821-CDBE-02AF-FBC36E44918B}"/>
                  </a:ext>
                </a:extLst>
              </p:cNvPr>
              <p:cNvSpPr txBox="1"/>
              <p:nvPr/>
            </p:nvSpPr>
            <p:spPr>
              <a:xfrm>
                <a:off x="515336" y="1602179"/>
                <a:ext cx="6632714" cy="4838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=80+600=680 км</m:t>
                    </m:r>
                  </m:oMath>
                </a14:m>
                <a:r>
                  <a:rPr lang="ru-RU" sz="2000" dirty="0">
                    <a:effectLst/>
                    <a:ea typeface="Calibri" panose="020F0502020204030204" pitchFamily="34" charset="0"/>
                  </a:rPr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ru-RU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ru-RU" sz="20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ru-RU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ru-RU" sz="20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20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20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=200+600=800 км</m:t>
                    </m:r>
                  </m:oMath>
                </a14:m>
                <a:r>
                  <a:rPr lang="ru-RU" sz="2000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ru-RU" sz="2000" dirty="0">
                  <a:effectLst/>
                  <a:ea typeface="Calibri" panose="020F0502020204030204" pitchFamily="34" charset="0"/>
                </a:endParaRPr>
              </a:p>
              <a:p>
                <a:endParaRPr lang="ru-RU" sz="2000" dirty="0">
                  <a:effectLst/>
                  <a:ea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680 000+800 000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=740 м</m:t>
                      </m:r>
                    </m:oMath>
                  </m:oMathPara>
                </a14:m>
                <a:endParaRPr lang="ru-RU" dirty="0"/>
              </a:p>
              <a:p>
                <a:endParaRPr lang="ru-RU" sz="2000" kern="1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3,5316 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800 000</m:t>
                                  </m:r>
                                </m:den>
                              </m:f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740 000</m:t>
                                  </m:r>
                                </m:den>
                              </m:f>
                            </m:e>
                          </m:d>
                        </m:e>
                      </m:rad>
                      <m:r>
                        <a:rPr lang="ru-RU" i="1">
                          <a:latin typeface="Cambria Math" panose="02040503050406030204" pitchFamily="18" charset="0"/>
                        </a:rPr>
                        <m:t>= 1 980 м/с</m:t>
                      </m:r>
                    </m:oMath>
                  </m:oMathPara>
                </a14:m>
                <a:endParaRPr lang="ru-RU" sz="20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3,5316 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680 000</m:t>
                                  </m:r>
                                </m:den>
                              </m:f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740 000</m:t>
                                  </m:r>
                                </m:den>
                              </m:f>
                            </m:e>
                          </m:d>
                        </m:e>
                      </m:rad>
                      <m:r>
                        <a:rPr lang="ru-RU" i="1">
                          <a:latin typeface="Cambria Math" panose="02040503050406030204" pitchFamily="18" charset="0"/>
                        </a:rPr>
                        <m:t>= 2 330 м/с</m:t>
                      </m:r>
                    </m:oMath>
                  </m:oMathPara>
                </a14:m>
                <a:endParaRPr lang="ru-RU" sz="20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ru-R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ru-RU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2400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3,5316</m:t>
                            </m:r>
                            <m:r>
                              <a:rPr lang="ru-RU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ru-RU" sz="2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ru-RU" sz="2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12</m:t>
                                </m:r>
                              </m:sup>
                            </m:sSup>
                          </m:num>
                          <m:den>
                            <m:r>
                              <a:rPr lang="ru-R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800 000</m:t>
                            </m:r>
                          </m:den>
                        </m:f>
                      </m:e>
                    </m:rad>
                    <m:r>
                      <a:rPr lang="ru-RU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=2 100 м/с</m:t>
                    </m:r>
                  </m:oMath>
                </a14:m>
                <a:r>
                  <a:rPr lang="ru-RU" sz="24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0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ru-RU" dirty="0"/>
                  <a:t>Требуемый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dirty="0"/>
                  <a:t> 2 100 – 1 820 = 280 м/с</a:t>
                </a:r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19F477-6821-CDBE-02AF-FBC36E449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36" y="1602179"/>
                <a:ext cx="6632714" cy="4838761"/>
              </a:xfrm>
              <a:prstGeom prst="rect">
                <a:avLst/>
              </a:prstGeom>
              <a:blipFill>
                <a:blip r:embed="rId3"/>
                <a:stretch>
                  <a:fillRect l="-827" t="-6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CD637FC-A021-1314-2B70-2B63D8D8D622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51CD05-AEFF-529C-E04F-A26C7F69415B}"/>
                  </a:ext>
                </a:extLst>
              </p:cNvPr>
              <p:cNvSpPr txBox="1"/>
              <p:nvPr/>
            </p:nvSpPr>
            <p:spPr>
              <a:xfrm>
                <a:off x="6614652" y="2092265"/>
                <a:ext cx="6169742" cy="1032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Период обращения по такой круговой орбите:</a:t>
                </a:r>
              </a:p>
              <a:p>
                <a:r>
                  <a:rPr lang="ru-RU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=2⋅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den>
                        </m:f>
                      </m:e>
                    </m:rad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=2⋅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740 000</m:t>
                                </m:r>
                              </m:e>
                              <m:sup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ru-RU" sz="2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3,5316</m:t>
                            </m:r>
                            <m: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=1 530 с</m:t>
                    </m:r>
                  </m:oMath>
                </a14:m>
                <a:endParaRPr lang="ru-RU" sz="20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51CD05-AEFF-529C-E04F-A26C7F694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652" y="2092265"/>
                <a:ext cx="6169742" cy="1032077"/>
              </a:xfrm>
              <a:prstGeom prst="rect">
                <a:avLst/>
              </a:prstGeom>
              <a:blipFill>
                <a:blip r:embed="rId4"/>
                <a:stretch>
                  <a:fillRect l="-988" t="-29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25406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88DB20A-587A-E55D-D463-24D9F4970F02}"/>
              </a:ext>
            </a:extLst>
          </p:cNvPr>
          <p:cNvSpPr/>
          <p:nvPr/>
        </p:nvSpPr>
        <p:spPr>
          <a:xfrm>
            <a:off x="195715" y="370032"/>
            <a:ext cx="930318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sz="3200" b="1" dirty="0">
                <a:ln/>
                <a:solidFill>
                  <a:schemeClr val="accent3"/>
                </a:solidFill>
              </a:rPr>
              <a:t>4 этап – перелет к Муне (Гомановская траектория):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72880-2888-A829-A628-7768EE87B330}"/>
              </a:ext>
            </a:extLst>
          </p:cNvPr>
          <p:cNvSpPr txBox="1"/>
          <p:nvPr/>
        </p:nvSpPr>
        <p:spPr>
          <a:xfrm>
            <a:off x="530941" y="1042671"/>
            <a:ext cx="94094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ea typeface="Calibri" panose="020F0502020204030204" pitchFamily="34" charset="0"/>
              </a:rPr>
              <a:t>Для перелета с орбиты Кербина на орбиту Муны используется гомановская траектория — энергетически оптимальный эллипс, касающийся обеих круговых орбит.</a:t>
            </a:r>
          </a:p>
          <a:p>
            <a:endParaRPr lang="ru-RU" sz="2400" dirty="0">
              <a:effectLst/>
              <a:ea typeface="Calibri" panose="020F0502020204030204" pitchFamily="34" charset="0"/>
            </a:endParaRPr>
          </a:p>
          <a:p>
            <a:r>
              <a:rPr lang="ru-RU" sz="2400" dirty="0">
                <a:ea typeface="Calibri" panose="020F0502020204030204" pitchFamily="34" charset="0"/>
              </a:rPr>
              <a:t>Эллиптическая скорость:</a:t>
            </a:r>
          </a:p>
          <a:p>
            <a:endParaRPr lang="ru-RU" sz="2400" dirty="0">
              <a:ea typeface="Calibri" panose="020F0502020204030204" pitchFamily="34" charset="0"/>
            </a:endParaRPr>
          </a:p>
          <a:p>
            <a:endParaRPr lang="ru-RU" sz="2400" dirty="0">
              <a:ea typeface="Calibri" panose="020F0502020204030204" pitchFamily="34" charset="0"/>
            </a:endParaRPr>
          </a:p>
          <a:p>
            <a:r>
              <a:rPr lang="ru-RU" sz="2400" dirty="0">
                <a:ea typeface="Calibri" panose="020F0502020204030204" pitchFamily="34" charset="0"/>
              </a:rPr>
              <a:t> П</a:t>
            </a:r>
            <a:r>
              <a:rPr lang="ru-RU" sz="2400" dirty="0">
                <a:effectLst/>
                <a:ea typeface="Calibri" panose="020F0502020204030204" pitchFamily="34" charset="0"/>
              </a:rPr>
              <a:t>олное время перелета составляет</a:t>
            </a:r>
          </a:p>
          <a:p>
            <a:r>
              <a:rPr lang="ru-RU" sz="2400" dirty="0">
                <a:effectLst/>
                <a:ea typeface="Calibri" panose="020F0502020204030204" pitchFamily="34" charset="0"/>
              </a:rPr>
              <a:t> половину периода</a:t>
            </a:r>
          </a:p>
          <a:p>
            <a:r>
              <a:rPr lang="ru-RU" sz="2400" dirty="0">
                <a:effectLst/>
                <a:ea typeface="Calibri" panose="020F0502020204030204" pitchFamily="34" charset="0"/>
              </a:rPr>
              <a:t> обращения по эллипсу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1AB007-4F1C-2D11-027E-4BF591CB851C}"/>
                  </a:ext>
                </a:extLst>
              </p:cNvPr>
              <p:cNvSpPr txBox="1"/>
              <p:nvPr/>
            </p:nvSpPr>
            <p:spPr>
              <a:xfrm>
                <a:off x="2054948" y="2390723"/>
                <a:ext cx="6096000" cy="1001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ru-RU" sz="20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ru-RU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ru-RU" sz="2000" i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ru-RU" sz="2000" i="0">
                                      <a:latin typeface="Cambria Math" panose="02040503050406030204" pitchFamily="18" charset="0"/>
                                    </a:rPr>
                                    <m:t>₁</m:t>
                                  </m:r>
                                </m:den>
                              </m:f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sz="20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ra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1AB007-4F1C-2D11-027E-4BF591CB8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48" y="2390723"/>
                <a:ext cx="6096000" cy="10016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F3EE82-5D55-E614-874E-701289186EAE}"/>
                  </a:ext>
                </a:extLst>
              </p:cNvPr>
              <p:cNvSpPr txBox="1"/>
              <p:nvPr/>
            </p:nvSpPr>
            <p:spPr>
              <a:xfrm>
                <a:off x="4149212" y="3904580"/>
                <a:ext cx="6096000" cy="1094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32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num>
                      <m:den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32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ru-RU" sz="32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3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ru-RU" sz="3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ru-RU" sz="3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bSup>
                          </m:num>
                          <m:den>
                            <m:r>
                              <a:rPr lang="ru-RU" sz="3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den>
                        </m:f>
                      </m:e>
                    </m:rad>
                  </m:oMath>
                </a14:m>
                <a:endParaRPr lang="ru-RU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F3EE82-5D55-E614-874E-701289186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212" y="3904580"/>
                <a:ext cx="6096000" cy="1094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CCB8050-6998-7A69-88EB-E1121429E23D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8501030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75C4180-0F53-EFED-BAB0-6932FEFA469C}"/>
              </a:ext>
            </a:extLst>
          </p:cNvPr>
          <p:cNvSpPr/>
          <p:nvPr/>
        </p:nvSpPr>
        <p:spPr>
          <a:xfrm>
            <a:off x="5034740" y="0"/>
            <a:ext cx="26337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Графики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394859-97EF-1E0B-BBB0-F2F4F676CDAB}"/>
              </a:ext>
            </a:extLst>
          </p:cNvPr>
          <p:cNvSpPr txBox="1"/>
          <p:nvPr/>
        </p:nvSpPr>
        <p:spPr>
          <a:xfrm>
            <a:off x="570271" y="923330"/>
            <a:ext cx="11444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Вычислим полученные уравнения с помощью кода на языке программирования </a:t>
            </a:r>
            <a:r>
              <a:rPr lang="ru-RU" sz="2400" dirty="0" err="1"/>
              <a:t>Рython</a:t>
            </a:r>
            <a:r>
              <a:rPr lang="ru-RU" sz="2400" dirty="0"/>
              <a:t> и составим графики: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36279-ED00-E3A7-106E-1B76E6F5E7A9}"/>
              </a:ext>
            </a:extLst>
          </p:cNvPr>
          <p:cNvSpPr txBox="1"/>
          <p:nvPr/>
        </p:nvSpPr>
        <p:spPr>
          <a:xfrm>
            <a:off x="6066625" y="4134178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Графики совпадают неидеально из-за использований некоторых упрощений в формулах, а также нюансов физики симулятора(например отличие задания атмосферы в модели и KSP)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568F7-1A63-364C-7F12-2AF517F1B874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11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99CD2D-A758-7DD3-6DC2-D41E8B49F0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625" y="1656240"/>
            <a:ext cx="5488909" cy="2268387"/>
          </a:xfrm>
          <a:prstGeom prst="rect">
            <a:avLst/>
          </a:prstGeom>
          <a:noFill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9C395B-213B-6B3F-EAC3-65068E234A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71" y="1708161"/>
            <a:ext cx="5036870" cy="2216466"/>
          </a:xfrm>
          <a:prstGeom prst="rect">
            <a:avLst/>
          </a:prstGeom>
          <a:noFill/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F51BB5-0223-11A1-1345-83CBDD6554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59" y="4047023"/>
            <a:ext cx="4918882" cy="22598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227055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B26879E-CC0B-AAE6-DC7A-C40DFDC6C5D5}"/>
              </a:ext>
            </a:extLst>
          </p:cNvPr>
          <p:cNvSpPr/>
          <p:nvPr/>
        </p:nvSpPr>
        <p:spPr>
          <a:xfrm>
            <a:off x="646772" y="108155"/>
            <a:ext cx="113704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Программная реализация автопилота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BA7C5E-08FF-F0FD-15FE-230AF27AE714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B1BDB-D908-D8FC-36DC-42FF2F0FF81B}"/>
              </a:ext>
            </a:extLst>
          </p:cNvPr>
          <p:cNvSpPr txBox="1"/>
          <p:nvPr/>
        </p:nvSpPr>
        <p:spPr>
          <a:xfrm>
            <a:off x="327844" y="1145031"/>
            <a:ext cx="727832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Для управления ракетой в KSP был разработан автопилот на языке Python с использованием библиотек:</a:t>
            </a:r>
          </a:p>
          <a:p>
            <a:r>
              <a:rPr lang="ru-RU" sz="2400" dirty="0"/>
              <a:t>1. </a:t>
            </a:r>
            <a:r>
              <a:rPr lang="en-US" sz="2400" dirty="0"/>
              <a:t>Math</a:t>
            </a:r>
            <a:endParaRPr lang="ru-RU" sz="2400" dirty="0"/>
          </a:p>
          <a:p>
            <a:r>
              <a:rPr lang="ru-RU" sz="2400" dirty="0"/>
              <a:t>2.</a:t>
            </a:r>
            <a:r>
              <a:rPr lang="en-US" sz="2400" dirty="0"/>
              <a:t> </a:t>
            </a:r>
            <a:r>
              <a:rPr lang="en-US" sz="2400" dirty="0" err="1"/>
              <a:t>kRPC</a:t>
            </a:r>
            <a:endParaRPr lang="ru-RU" sz="2400" dirty="0"/>
          </a:p>
          <a:p>
            <a:r>
              <a:rPr lang="ru-RU" sz="2400" dirty="0"/>
              <a:t>3.</a:t>
            </a:r>
            <a:r>
              <a:rPr lang="en-US" sz="2400" dirty="0"/>
              <a:t> Time</a:t>
            </a:r>
            <a:endParaRPr lang="ru-RU" sz="2400" dirty="0"/>
          </a:p>
          <a:p>
            <a:r>
              <a:rPr lang="ru-RU" sz="2400" dirty="0"/>
              <a:t>4.</a:t>
            </a:r>
            <a:r>
              <a:rPr lang="en-US" sz="2400" dirty="0"/>
              <a:t> </a:t>
            </a:r>
            <a:r>
              <a:rPr lang="en-US" sz="2400" dirty="0" err="1"/>
              <a:t>Matpolitlib</a:t>
            </a:r>
            <a:endParaRPr lang="ru-RU" sz="2400" dirty="0"/>
          </a:p>
          <a:p>
            <a:r>
              <a:rPr lang="ru-RU" sz="2400" dirty="0"/>
              <a:t>5.</a:t>
            </a:r>
            <a:r>
              <a:rPr lang="en-US" sz="2400" dirty="0"/>
              <a:t> </a:t>
            </a:r>
            <a:r>
              <a:rPr lang="en-US" sz="2400" dirty="0" err="1"/>
              <a:t>Scipy.integrate</a:t>
            </a:r>
            <a:endParaRPr lang="ru-RU" sz="2400" dirty="0"/>
          </a:p>
          <a:p>
            <a:r>
              <a:rPr lang="ru-RU" sz="2400" dirty="0"/>
              <a:t>Система обеспечивает автоматическое выполнение маневров, мониторинг параметров полета и 1 логирование данных.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DE1E1E-52B8-4BA7-BCE4-BEE4652BF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737" y="1312179"/>
            <a:ext cx="5489611" cy="27977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3101625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B824ABF-EA6E-10EE-2224-718F015106F1}"/>
              </a:ext>
            </a:extLst>
          </p:cNvPr>
          <p:cNvSpPr/>
          <p:nvPr/>
        </p:nvSpPr>
        <p:spPr>
          <a:xfrm>
            <a:off x="2991590" y="0"/>
            <a:ext cx="67201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Моделирование в </a:t>
            </a: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KSP</a:t>
            </a:r>
            <a:endParaRPr lang="ru-RU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F9494-B470-7E68-1707-ADFD4047F29F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E90A27-1D3E-2C0C-807A-EF64FC2D2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30" y="1062497"/>
            <a:ext cx="2695575" cy="50673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D1BF8F-F45B-EEB7-8700-FFC57ACB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502" y="1147464"/>
            <a:ext cx="2266949" cy="265271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3879F7-6E76-8BF2-B6FD-396D9EC56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046" y="1147464"/>
            <a:ext cx="3937995" cy="489736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B5BF596-82D3-CD04-2AE9-DB395C6FE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338" y="3949331"/>
            <a:ext cx="3597275" cy="2095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540828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F570AA-0059-B9E3-F101-24688338FF2A}"/>
              </a:ext>
            </a:extLst>
          </p:cNvPr>
          <p:cNvSpPr/>
          <p:nvPr/>
        </p:nvSpPr>
        <p:spPr>
          <a:xfrm>
            <a:off x="4462340" y="0"/>
            <a:ext cx="37786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DD584-A834-E0E2-9F5D-D74A87DF3B4D}"/>
              </a:ext>
            </a:extLst>
          </p:cNvPr>
          <p:cNvSpPr txBox="1"/>
          <p:nvPr/>
        </p:nvSpPr>
        <p:spPr>
          <a:xfrm>
            <a:off x="358877" y="1078467"/>
            <a:ext cx="437535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effectLst/>
                <a:ea typeface="Calibri" panose="020F0502020204030204" pitchFamily="34" charset="0"/>
              </a:rPr>
              <a:t>В результате выполнения данной научно-исследовательской работы наша команда успешно промоделировала в Kerbal Space Program проект по доставке лунохода на Луну.</a:t>
            </a:r>
            <a:r>
              <a:rPr lang="ru-RU" sz="2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04902-CCC8-AF5B-05FC-850D1B1D35EE}"/>
              </a:ext>
            </a:extLst>
          </p:cNvPr>
          <p:cNvSpPr txBox="1"/>
          <p:nvPr/>
        </p:nvSpPr>
        <p:spPr>
          <a:xfrm>
            <a:off x="614517" y="3994429"/>
            <a:ext cx="888344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Проект продемонстрировал, что игровой симулятор KSP в сочетании с программируемыми интерфейсами может служить эффективной платформой для моделирования, изучения и отработки сложных миссий, включая проектирование космических аппаратов, расчёт траекторий и разработку алгоритмов автономного управления для посадки на другие небесные тела.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F6C40A2-7D7C-B48D-47FB-68847C95A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923" y="923330"/>
            <a:ext cx="7315200" cy="30771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F4968E-9636-8812-70CF-EF9D2863BD26}"/>
              </a:ext>
            </a:extLst>
          </p:cNvPr>
          <p:cNvSpPr txBox="1"/>
          <p:nvPr/>
        </p:nvSpPr>
        <p:spPr>
          <a:xfrm>
            <a:off x="11769213" y="6410633"/>
            <a:ext cx="57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83F340-D050-E360-2F2D-7E6248518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961" y="4172949"/>
            <a:ext cx="2065215" cy="206521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991073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405</TotalTime>
  <Words>773</Words>
  <Application>Microsoft Office PowerPoint</Application>
  <PresentationFormat>Широкоэкранный</PresentationFormat>
  <Paragraphs>129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Cambria Math</vt:lpstr>
      <vt:lpstr>Times New Roman</vt:lpstr>
      <vt:lpstr>Ретро</vt:lpstr>
      <vt:lpstr>Доставка лунохода на Луну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Мария Шумихина</dc:creator>
  <cp:lastModifiedBy>Мария Шумихина</cp:lastModifiedBy>
  <cp:revision>24</cp:revision>
  <dcterms:created xsi:type="dcterms:W3CDTF">2025-12-18T18:19:01Z</dcterms:created>
  <dcterms:modified xsi:type="dcterms:W3CDTF">2025-12-19T09:03:46Z</dcterms:modified>
</cp:coreProperties>
</file>